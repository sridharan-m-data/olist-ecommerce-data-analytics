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0" r:id="rId2"/>
    <p:sldId id="271" r:id="rId3"/>
    <p:sldId id="256" r:id="rId4"/>
    <p:sldId id="257" r:id="rId5"/>
    <p:sldId id="258" r:id="rId6"/>
    <p:sldId id="261" r:id="rId7"/>
    <p:sldId id="260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2898E4"/>
    <a:srgbClr val="03054D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660"/>
  </p:normalViewPr>
  <p:slideViewPr>
    <p:cSldViewPr snapToGrid="0">
      <p:cViewPr>
        <p:scale>
          <a:sx n="87" d="100"/>
          <a:sy n="87" d="100"/>
        </p:scale>
        <p:origin x="54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75F548-9695-4037-BD08-27B28CAA8C4B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387E14-845A-48D2-AA2C-1D25626A52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06275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87E14-845A-48D2-AA2C-1D25626A52C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95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87E14-845A-48D2-AA2C-1D25626A52C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3600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87E14-845A-48D2-AA2C-1D25626A52C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0545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87E14-845A-48D2-AA2C-1D25626A52C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602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87E14-845A-48D2-AA2C-1D25626A52C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3308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87E14-845A-48D2-AA2C-1D25626A52C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5070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87E14-845A-48D2-AA2C-1D25626A52C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740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87E14-845A-48D2-AA2C-1D25626A52C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680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5796-9FB9-4CB5-A597-70725CF43C8D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1641-6EA4-4CA5-86B7-6AE47DA7D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113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5796-9FB9-4CB5-A597-70725CF43C8D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1641-6EA4-4CA5-86B7-6AE47DA7D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277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5796-9FB9-4CB5-A597-70725CF43C8D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1641-6EA4-4CA5-86B7-6AE47DA7D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7654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5796-9FB9-4CB5-A597-70725CF43C8D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1641-6EA4-4CA5-86B7-6AE47DA7D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601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5796-9FB9-4CB5-A597-70725CF43C8D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1641-6EA4-4CA5-86B7-6AE47DA7D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116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5796-9FB9-4CB5-A597-70725CF43C8D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1641-6EA4-4CA5-86B7-6AE47DA7D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664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5796-9FB9-4CB5-A597-70725CF43C8D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1641-6EA4-4CA5-86B7-6AE47DA7D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176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5796-9FB9-4CB5-A597-70725CF43C8D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1641-6EA4-4CA5-86B7-6AE47DA7D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96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5796-9FB9-4CB5-A597-70725CF43C8D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1641-6EA4-4CA5-86B7-6AE47DA7D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91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5796-9FB9-4CB5-A597-70725CF43C8D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1641-6EA4-4CA5-86B7-6AE47DA7D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240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85796-9FB9-4CB5-A597-70725CF43C8D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6F1641-6EA4-4CA5-86B7-6AE47DA7D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58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85796-9FB9-4CB5-A597-70725CF43C8D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F1641-6EA4-4CA5-86B7-6AE47DA7DC0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64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" y="0"/>
            <a:ext cx="12188761" cy="6859822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5939247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ritannic Bold" panose="020B0903060703020204" pitchFamily="34" charset="0"/>
              </a:rPr>
              <a:t>Business Intelligence &amp; Predictive Analytics for </a:t>
            </a:r>
            <a:r>
              <a:rPr lang="en-US" sz="4000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Britannic Bold" panose="020B0903060703020204" pitchFamily="34" charset="0"/>
              </a:rPr>
              <a:t>      E-Commerce </a:t>
            </a:r>
            <a:r>
              <a:rPr lang="en-US" sz="40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ritannic Bold" panose="020B0903060703020204" pitchFamily="34" charset="0"/>
              </a:rPr>
              <a:t>using Olist </a:t>
            </a:r>
            <a:r>
              <a:rPr lang="en-US" sz="4000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Britannic Bold" panose="020B0903060703020204" pitchFamily="34" charset="0"/>
              </a:rPr>
              <a:t>Data</a:t>
            </a:r>
          </a:p>
          <a:p>
            <a:pPr>
              <a:lnSpc>
                <a:spcPct val="150000"/>
              </a:lnSpc>
            </a:pPr>
            <a:r>
              <a:rPr lang="en-IN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 ITC" panose="03070402050302030203" pitchFamily="66" charset="0"/>
              </a:rPr>
              <a:t>Brazilian </a:t>
            </a:r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 ITC" panose="03070402050302030203" pitchFamily="66" charset="0"/>
              </a:rPr>
              <a:t>E-Commerce Public Dataset by Olist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5939248"/>
            <a:ext cx="12192000" cy="918752"/>
          </a:xfrm>
          <a:ln w="19050">
            <a:solidFill>
              <a:srgbClr val="002060"/>
            </a:solidFill>
          </a:ln>
        </p:spPr>
        <p:txBody>
          <a:bodyPr/>
          <a:lstStyle/>
          <a:p>
            <a:pPr algn="r">
              <a:lnSpc>
                <a:spcPct val="150000"/>
              </a:lnSpc>
            </a:pPr>
            <a:r>
              <a:rPr lang="en-IN" sz="2000" b="1" dirty="0" smtClean="0">
                <a:solidFill>
                  <a:srgbClr val="2898E4"/>
                </a:solidFill>
              </a:rPr>
              <a:t>Presented By:</a:t>
            </a:r>
            <a:endParaRPr lang="en-IN" sz="2000" b="1" dirty="0">
              <a:solidFill>
                <a:srgbClr val="2898E4"/>
              </a:solidFill>
            </a:endParaRPr>
          </a:p>
          <a:p>
            <a:pPr algn="r">
              <a:lnSpc>
                <a:spcPct val="150000"/>
              </a:lnSpc>
            </a:pPr>
            <a:r>
              <a:rPr lang="en-IN" sz="1600" b="1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Sridharan M</a:t>
            </a:r>
            <a:endParaRPr lang="en-IN" sz="16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460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" y="0"/>
            <a:ext cx="12188761" cy="68598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965563"/>
          </a:xfrm>
          <a:ln w="19050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l"/>
            <a:r>
              <a:rPr lang="en-IN" sz="4000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TABLE OF CONTENTS</a:t>
            </a:r>
            <a:endParaRPr lang="en-IN" sz="4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965562"/>
            <a:ext cx="7393577" cy="5892437"/>
          </a:xfrm>
        </p:spPr>
        <p:txBody>
          <a:bodyPr numCol="2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 smtClean="0">
                <a:solidFill>
                  <a:schemeClr val="bg1"/>
                </a:solidFill>
              </a:rPr>
              <a:t>About Olist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 smtClean="0">
                <a:solidFill>
                  <a:schemeClr val="bg1"/>
                </a:solidFill>
              </a:rPr>
              <a:t>Project Overview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 smtClean="0">
                <a:solidFill>
                  <a:schemeClr val="bg1"/>
                </a:solidFill>
              </a:rPr>
              <a:t>Business Overview Dashboard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 smtClean="0">
                <a:solidFill>
                  <a:schemeClr val="bg1"/>
                </a:solidFill>
              </a:rPr>
              <a:t>Customer &amp; Products Dashboard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 smtClean="0">
                <a:solidFill>
                  <a:schemeClr val="bg1"/>
                </a:solidFill>
              </a:rPr>
              <a:t>Logistics &amp; Regions Dashboard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 smtClean="0">
                <a:solidFill>
                  <a:schemeClr val="bg1"/>
                </a:solidFill>
              </a:rPr>
              <a:t>AI &amp; ML Insights Dashboard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 smtClean="0">
                <a:solidFill>
                  <a:schemeClr val="bg1"/>
                </a:solidFill>
              </a:rPr>
              <a:t>Strategic Insights 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 smtClean="0">
                <a:solidFill>
                  <a:schemeClr val="bg1"/>
                </a:solidFill>
              </a:rPr>
              <a:t>Tools &amp; Technologies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 smtClean="0">
                <a:solidFill>
                  <a:schemeClr val="bg1"/>
                </a:solidFill>
              </a:rPr>
              <a:t>Project Achievements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 smtClean="0">
                <a:solidFill>
                  <a:schemeClr val="bg1"/>
                </a:solidFill>
              </a:rPr>
              <a:t>Project Highlights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853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" y="0"/>
            <a:ext cx="12188761" cy="68598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82980"/>
          </a:xfrm>
          <a:ln w="19050">
            <a:solidFill>
              <a:srgbClr val="002060"/>
            </a:solidFill>
          </a:ln>
        </p:spPr>
        <p:txBody>
          <a:bodyPr anchor="ctr">
            <a:normAutofit fontScale="90000"/>
          </a:bodyPr>
          <a:lstStyle/>
          <a:p>
            <a:pPr algn="l"/>
            <a:r>
              <a:rPr lang="en-IN" sz="4400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ABOUT OLIST</a:t>
            </a:r>
            <a:br>
              <a:rPr lang="en-IN" sz="4400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IN" sz="2700" dirty="0">
                <a:solidFill>
                  <a:srgbClr val="00B0F0"/>
                </a:solidFill>
              </a:rPr>
              <a:t>Brazil's Leading E-Commerce </a:t>
            </a:r>
            <a:r>
              <a:rPr lang="en-IN" sz="2700" dirty="0" smtClean="0">
                <a:solidFill>
                  <a:srgbClr val="00B0F0"/>
                </a:solidFill>
              </a:rPr>
              <a:t>Ecosystem</a:t>
            </a:r>
            <a:endParaRPr lang="en-IN" sz="27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982980"/>
            <a:ext cx="12192000" cy="880654"/>
          </a:xfrm>
          <a:ln w="19050">
            <a:solidFill>
              <a:srgbClr val="002060"/>
            </a:solidFill>
          </a:ln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sz="1400" dirty="0" smtClean="0">
                <a:solidFill>
                  <a:srgbClr val="2898E4"/>
                </a:solidFill>
              </a:rPr>
              <a:t>What is Olist?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Olist is a Brazilian e-commerce ecosystem that enables small and medium-sized businesses to sell products online through marketplaces, digital stores, logistics services, and commerce solutions.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2608678"/>
            <a:ext cx="5773781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dirty="0">
                <a:solidFill>
                  <a:srgbClr val="2898E4"/>
                </a:solidFill>
              </a:rPr>
              <a:t>Business </a:t>
            </a:r>
            <a:r>
              <a:rPr lang="en-IN" sz="1400" dirty="0" smtClean="0">
                <a:solidFill>
                  <a:srgbClr val="2898E4"/>
                </a:solidFill>
              </a:rPr>
              <a:t>Challenge</a:t>
            </a:r>
          </a:p>
          <a:p>
            <a:pPr>
              <a:lnSpc>
                <a:spcPct val="150000"/>
              </a:lnSpc>
            </a:pPr>
            <a:r>
              <a:rPr lang="en-IN" sz="1400" dirty="0" smtClean="0">
                <a:solidFill>
                  <a:srgbClr val="2898E4"/>
                </a:solidFill>
              </a:rPr>
              <a:t>How can Olist improve: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Revenue Growth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Retention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Product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Logistics Efficiency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Demand Forecasting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Strategic Decision Making</a:t>
            </a:r>
            <a:r>
              <a:rPr lang="en-IN" dirty="0" smtClean="0"/>
              <a:t>: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548641" y="1863634"/>
            <a:ext cx="4955177" cy="426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400" dirty="0">
                <a:solidFill>
                  <a:srgbClr val="2898E4"/>
                </a:solidFill>
              </a:rPr>
              <a:t>What Olist Does?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Connect sellers with online marketplaces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Manages product listings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Handles order processing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Provides logistics support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Facilitates payment processing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Improves customer experience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solidFill>
                  <a:srgbClr val="2898E4"/>
                </a:solidFill>
              </a:rPr>
              <a:t>How Olist Helps Customers?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Faster deliveries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Multiple product choices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Secure payments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Reliable order tracking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Better shopping experience</a:t>
            </a: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8709" y="6251169"/>
            <a:ext cx="12183291" cy="606831"/>
          </a:xfrm>
          <a:ln w="19050">
            <a:solidFill>
              <a:srgbClr val="002060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1400" dirty="0">
                <a:solidFill>
                  <a:srgbClr val="2898E4"/>
                </a:solidFill>
              </a:rPr>
              <a:t>Tools Used:</a:t>
            </a:r>
          </a:p>
          <a:p>
            <a:pPr>
              <a:lnSpc>
                <a:spcPct val="150000"/>
              </a:lnSpc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Power BI | MySQL | Python | Excel | Machine Learning | AI | Jupyter Notebook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211" y="115186"/>
            <a:ext cx="1297577" cy="76121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</p:spTree>
    <p:extLst>
      <p:ext uri="{BB962C8B-B14F-4D97-AF65-F5344CB8AC3E}">
        <p14:creationId xmlns:p14="http://schemas.microsoft.com/office/powerpoint/2010/main" val="1952242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" y="0"/>
            <a:ext cx="12188761" cy="68598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965563"/>
          </a:xfrm>
          <a:ln w="19050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l"/>
            <a:r>
              <a:rPr lang="en-IN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965563"/>
            <a:ext cx="12192000" cy="240465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sz="1600" dirty="0">
                <a:solidFill>
                  <a:srgbClr val="2898E4"/>
                </a:solidFill>
              </a:rPr>
              <a:t>Objective: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To build an end-to-end analytics solution to understand: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Sales Performance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Behaviour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Product Performance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Logistics Operations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Regional Trends</a:t>
            </a:r>
          </a:p>
          <a:p>
            <a:pPr marL="742950" lvl="1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Future Revenue Predictions</a:t>
            </a:r>
            <a:endParaRPr lang="en-IN" sz="14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lvl="1" algn="l">
              <a:lnSpc>
                <a:spcPct val="100000"/>
              </a:lnSpc>
            </a:pPr>
            <a:endParaRPr lang="en-IN" sz="1400" dirty="0" smtClean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211" y="115186"/>
            <a:ext cx="1297577" cy="76121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5" name="TextBox 4"/>
          <p:cNvSpPr txBox="1"/>
          <p:nvPr/>
        </p:nvSpPr>
        <p:spPr>
          <a:xfrm>
            <a:off x="0" y="3524703"/>
            <a:ext cx="73674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2898E4"/>
                </a:solidFill>
              </a:rPr>
              <a:t>Analytics </a:t>
            </a:r>
            <a:r>
              <a:rPr lang="en-IN" sz="1600" dirty="0" smtClean="0">
                <a:solidFill>
                  <a:srgbClr val="2898E4"/>
                </a:solidFill>
              </a:rPr>
              <a:t>Workflow:</a:t>
            </a:r>
            <a:endParaRPr lang="en-IN" sz="1600" dirty="0">
              <a:solidFill>
                <a:srgbClr val="2898E4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41" y="4017743"/>
            <a:ext cx="11710718" cy="209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543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" y="0"/>
            <a:ext cx="12188761" cy="68598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965563"/>
          </a:xfrm>
          <a:ln w="19050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l"/>
            <a:r>
              <a:rPr lang="en-IN" sz="4000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OVERVIEW</a:t>
            </a:r>
            <a:r>
              <a:rPr lang="en-IN" sz="4000" dirty="0" smtClean="0"/>
              <a:t> </a:t>
            </a:r>
            <a:r>
              <a:rPr lang="en-IN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808" y="1486810"/>
            <a:ext cx="4380411" cy="4851763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sz="1800" dirty="0">
                <a:solidFill>
                  <a:srgbClr val="2898E4"/>
                </a:solidFill>
              </a:rPr>
              <a:t>KPI’s Used: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Total Revenue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Total Orders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Total Customers</a:t>
            </a:r>
            <a:endParaRPr lang="en-IN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Average Order </a:t>
            </a: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Value</a:t>
            </a:r>
            <a:endParaRPr lang="en-IN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l">
              <a:lnSpc>
                <a:spcPct val="100000"/>
              </a:lnSpc>
            </a:pPr>
            <a:r>
              <a:rPr lang="en-IN" sz="1800" dirty="0" smtClean="0">
                <a:solidFill>
                  <a:srgbClr val="2898E4"/>
                </a:solidFill>
              </a:rPr>
              <a:t/>
            </a:r>
            <a:br>
              <a:rPr lang="en-IN" sz="1800" dirty="0" smtClean="0">
                <a:solidFill>
                  <a:srgbClr val="2898E4"/>
                </a:solidFill>
              </a:rPr>
            </a:br>
            <a:r>
              <a:rPr lang="en-IN" sz="1800" dirty="0" smtClean="0">
                <a:solidFill>
                  <a:srgbClr val="2898E4"/>
                </a:solidFill>
              </a:rPr>
              <a:t>Visuals </a:t>
            </a:r>
            <a:r>
              <a:rPr lang="en-IN" sz="1800" dirty="0">
                <a:solidFill>
                  <a:srgbClr val="2898E4"/>
                </a:solidFill>
              </a:rPr>
              <a:t>Used: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Revenue Trend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Orders Trend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Growth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Revenue by State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Revenue by </a:t>
            </a: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Category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Revenue by Payment Type</a:t>
            </a:r>
            <a:endParaRPr lang="en-IN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211" y="115186"/>
            <a:ext cx="1297577" cy="76121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8" name="TextBox 7"/>
          <p:cNvSpPr txBox="1"/>
          <p:nvPr/>
        </p:nvSpPr>
        <p:spPr>
          <a:xfrm>
            <a:off x="6574971" y="2577737"/>
            <a:ext cx="3944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5722340" y="2089115"/>
            <a:ext cx="5930537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rgbClr val="2898E4"/>
                </a:solidFill>
              </a:rPr>
              <a:t>Business Questions Answered: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Which product categories generate highest revenue?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Which payment methods are most preferred?</a:t>
            </a:r>
          </a:p>
          <a:p>
            <a:pPr algn="ctr">
              <a:lnSpc>
                <a:spcPct val="150000"/>
              </a:lnSpc>
            </a:pPr>
            <a:endParaRPr lang="en-IN" dirty="0" smtClean="0">
              <a:solidFill>
                <a:srgbClr val="2898E4"/>
              </a:solidFill>
            </a:endParaRPr>
          </a:p>
          <a:p>
            <a:pPr>
              <a:lnSpc>
                <a:spcPct val="150000"/>
              </a:lnSpc>
            </a:pPr>
            <a:r>
              <a:rPr lang="en-IN" dirty="0" smtClean="0">
                <a:solidFill>
                  <a:srgbClr val="2898E4"/>
                </a:solidFill>
              </a:rPr>
              <a:t>Key </a:t>
            </a:r>
            <a:r>
              <a:rPr lang="en-IN" dirty="0">
                <a:solidFill>
                  <a:srgbClr val="2898E4"/>
                </a:solidFill>
              </a:rPr>
              <a:t>Business Value: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Quick executive overview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Revenue monitoring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growth tracking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Credit cards dominate payments</a:t>
            </a:r>
          </a:p>
        </p:txBody>
      </p:sp>
    </p:spTree>
    <p:extLst>
      <p:ext uri="{BB962C8B-B14F-4D97-AF65-F5344CB8AC3E}">
        <p14:creationId xmlns:p14="http://schemas.microsoft.com/office/powerpoint/2010/main" val="802858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" y="0"/>
            <a:ext cx="12188761" cy="68598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965563"/>
          </a:xfrm>
          <a:ln w="19050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l"/>
            <a:r>
              <a:rPr lang="en-IN" sz="4000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CUSTOMER &amp; PRODUCTS DASHBOARD</a:t>
            </a:r>
            <a:endParaRPr lang="en-IN" sz="4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6023" y="965563"/>
            <a:ext cx="4859384" cy="5687786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50000"/>
              </a:lnSpc>
            </a:pPr>
            <a:r>
              <a:rPr lang="en-IN" sz="1600" dirty="0" smtClean="0">
                <a:solidFill>
                  <a:srgbClr val="2898E4"/>
                </a:solidFill>
              </a:rPr>
              <a:t>KPI Used:</a:t>
            </a:r>
            <a:endParaRPr lang="en-IN" sz="1600" dirty="0">
              <a:solidFill>
                <a:srgbClr val="2898E4"/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Total Customers</a:t>
            </a:r>
            <a:endParaRPr lang="en-IN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Total Products</a:t>
            </a:r>
            <a:endParaRPr lang="en-IN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Repeat Customers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Average Review Score</a:t>
            </a:r>
            <a:endParaRPr lang="en-IN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endParaRPr lang="en-IN" sz="1600" dirty="0">
              <a:solidFill>
                <a:srgbClr val="2898E4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IN" sz="1600" dirty="0">
                <a:solidFill>
                  <a:srgbClr val="2898E4"/>
                </a:solidFill>
              </a:rPr>
              <a:t>Visuals Used: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</a:t>
            </a: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Review Score Distribution</a:t>
            </a:r>
            <a:endParaRPr lang="en-IN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Repeats vs One-Time Customers</a:t>
            </a:r>
            <a:endParaRPr lang="en-IN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</a:t>
            </a: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Distribution by Region</a:t>
            </a:r>
            <a:endParaRPr lang="en-IN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Average Product Price by Category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Top 8 Products by Revenue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Top 8 Products by </a:t>
            </a: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Units Sold</a:t>
            </a:r>
            <a:endParaRPr lang="en-IN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 smtClean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211" y="115186"/>
            <a:ext cx="1297577" cy="76121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6" name="TextBox 5"/>
          <p:cNvSpPr txBox="1"/>
          <p:nvPr/>
        </p:nvSpPr>
        <p:spPr>
          <a:xfrm>
            <a:off x="5826034" y="1329336"/>
            <a:ext cx="5042263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rgbClr val="2898E4"/>
                </a:solidFill>
              </a:rPr>
              <a:t>Business Value: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rgbClr val="2898E4"/>
                </a:solidFill>
              </a:rPr>
              <a:t>Identifies: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Loyal Customers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At-Risk Customers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High Value </a:t>
            </a: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Customers</a:t>
            </a:r>
          </a:p>
          <a:p>
            <a:pPr>
              <a:lnSpc>
                <a:spcPct val="150000"/>
              </a:lnSpc>
            </a:pPr>
            <a:endParaRPr lang="en-IN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rgbClr val="2898E4"/>
                </a:solidFill>
              </a:rPr>
              <a:t>Key Insights: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Best-Selling categories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High-Value products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satisfaction </a:t>
            </a: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levels</a:t>
            </a:r>
            <a:endParaRPr lang="en-IN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3965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" y="0"/>
            <a:ext cx="12188761" cy="68598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965563"/>
          </a:xfrm>
          <a:ln w="19050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l"/>
            <a:r>
              <a:rPr lang="en-IN" sz="4000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LOGISTICS &amp; REGIONS DASHBOARD</a:t>
            </a:r>
            <a:endParaRPr lang="en-IN" sz="4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8937" y="965561"/>
            <a:ext cx="5286103" cy="5687787"/>
          </a:xfrm>
        </p:spPr>
        <p:txBody>
          <a:bodyPr>
            <a:normAutofit lnSpcReduction="10000"/>
          </a:bodyPr>
          <a:lstStyle/>
          <a:p>
            <a:pPr algn="l">
              <a:lnSpc>
                <a:spcPct val="150000"/>
              </a:lnSpc>
            </a:pPr>
            <a:r>
              <a:rPr lang="en-IN" sz="1800" dirty="0" smtClean="0">
                <a:solidFill>
                  <a:srgbClr val="2898E4"/>
                </a:solidFill>
              </a:rPr>
              <a:t>KPI Used:</a:t>
            </a:r>
            <a:endParaRPr lang="en-IN" sz="1800" dirty="0">
              <a:solidFill>
                <a:srgbClr val="2898E4"/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Total States </a:t>
            </a:r>
            <a:r>
              <a:rPr lang="en-I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Served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Average Delivery Days</a:t>
            </a:r>
            <a:endParaRPr lang="en-IN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On-Time Delivery %</a:t>
            </a:r>
            <a:endParaRPr lang="en-IN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Average Freight Cost</a:t>
            </a:r>
            <a:endParaRPr lang="en-IN" sz="1800" dirty="0">
              <a:solidFill>
                <a:srgbClr val="2898E4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IN" sz="1800" dirty="0" smtClean="0">
                <a:solidFill>
                  <a:srgbClr val="2898E4"/>
                </a:solidFill>
              </a:rPr>
              <a:t>Visuals Used: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Delivery Performance by Region</a:t>
            </a:r>
            <a:endParaRPr lang="en-IN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Top 10 States by Revenue</a:t>
            </a:r>
            <a:endParaRPr lang="en-IN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Estimated vs Actual Delivery Days</a:t>
            </a:r>
            <a:endParaRPr lang="en-IN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Top 10 States </a:t>
            </a:r>
            <a:r>
              <a:rPr lang="en-IN" sz="18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with Highest Delivery Delays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Delivery Time Analysis</a:t>
            </a:r>
            <a:endParaRPr lang="en-IN"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l">
              <a:lnSpc>
                <a:spcPct val="110000"/>
              </a:lnSpc>
            </a:pPr>
            <a:endParaRPr lang="en-IN" sz="1600" dirty="0">
              <a:solidFill>
                <a:srgbClr val="2898E4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211" y="115186"/>
            <a:ext cx="1297577" cy="76121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6" name="TextBox 5"/>
          <p:cNvSpPr txBox="1"/>
          <p:nvPr/>
        </p:nvSpPr>
        <p:spPr>
          <a:xfrm>
            <a:off x="6035040" y="2452720"/>
            <a:ext cx="5329646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dirty="0">
                <a:solidFill>
                  <a:srgbClr val="2898E4"/>
                </a:solidFill>
              </a:rPr>
              <a:t>Business Questions Answered: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Which regions generate highest revenue</a:t>
            </a: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?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Which regions experience late deliveries?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Where </a:t>
            </a: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should expansion be prioritized?</a:t>
            </a:r>
          </a:p>
        </p:txBody>
      </p:sp>
    </p:spTree>
    <p:extLst>
      <p:ext uri="{BB962C8B-B14F-4D97-AF65-F5344CB8AC3E}">
        <p14:creationId xmlns:p14="http://schemas.microsoft.com/office/powerpoint/2010/main" val="2175257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" y="0"/>
            <a:ext cx="12188761" cy="68598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965563"/>
          </a:xfrm>
          <a:ln w="19050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l"/>
            <a:r>
              <a:rPr lang="en-IN" sz="4000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AI &amp; ML INSIGHTS</a:t>
            </a:r>
            <a:r>
              <a:rPr lang="en-IN" sz="4000" dirty="0" smtClean="0"/>
              <a:t> </a:t>
            </a:r>
            <a:r>
              <a:rPr lang="en-IN" sz="4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7349" y="1062446"/>
            <a:ext cx="10528662" cy="5347063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sz="1900" dirty="0">
                <a:solidFill>
                  <a:srgbClr val="2898E4"/>
                </a:solidFill>
              </a:rPr>
              <a:t>AI &amp; Machine Learning Implementations:</a:t>
            </a:r>
          </a:p>
          <a:p>
            <a:pPr algn="l">
              <a:lnSpc>
                <a:spcPct val="100000"/>
              </a:lnSpc>
            </a:pPr>
            <a:r>
              <a:rPr lang="en-IN" sz="1900" dirty="0">
                <a:solidFill>
                  <a:srgbClr val="2898E4"/>
                </a:solidFill>
              </a:rPr>
              <a:t>AI: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AI – Powered Revenue Insights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AI – Revenue Breakdown Analysis</a:t>
            </a:r>
          </a:p>
          <a:p>
            <a:pPr algn="l">
              <a:lnSpc>
                <a:spcPct val="160000"/>
              </a:lnSpc>
            </a:pPr>
            <a:r>
              <a:rPr lang="en-IN" sz="1900" dirty="0">
                <a:solidFill>
                  <a:srgbClr val="2898E4"/>
                </a:solidFill>
              </a:rPr>
              <a:t>ML: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Order Demand Prediction (Predict future sales trends</a:t>
            </a:r>
            <a:r>
              <a:rPr lang="en-IN" sz="19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)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9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Product Demand Prediction by Category</a:t>
            </a:r>
            <a:endParaRPr lang="en-IN" sz="19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IN" sz="1900" dirty="0" smtClean="0">
                <a:solidFill>
                  <a:srgbClr val="2898E4"/>
                </a:solidFill>
              </a:rPr>
              <a:t>Power </a:t>
            </a:r>
            <a:r>
              <a:rPr lang="en-IN" sz="1900" dirty="0">
                <a:solidFill>
                  <a:srgbClr val="2898E4"/>
                </a:solidFill>
              </a:rPr>
              <a:t>BI AI &amp; ML Features Used: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Key Influencers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Decomposition Tree</a:t>
            </a:r>
          </a:p>
          <a:p>
            <a:pPr marL="285750" indent="-28575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9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Python Visuals</a:t>
            </a:r>
          </a:p>
          <a:p>
            <a:pPr algn="l">
              <a:lnSpc>
                <a:spcPct val="100000"/>
              </a:lnSpc>
            </a:pPr>
            <a:endParaRPr lang="en-IN" sz="1700" dirty="0">
              <a:solidFill>
                <a:srgbClr val="2898E4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211" y="115186"/>
            <a:ext cx="1297577" cy="76121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</p:spTree>
    <p:extLst>
      <p:ext uri="{BB962C8B-B14F-4D97-AF65-F5344CB8AC3E}">
        <p14:creationId xmlns:p14="http://schemas.microsoft.com/office/powerpoint/2010/main" val="3184385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" y="0"/>
            <a:ext cx="12188761" cy="68598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965563"/>
          </a:xfrm>
          <a:ln w="19050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l"/>
            <a:r>
              <a:rPr lang="en-IN" sz="3600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STRATEGIC INSIGHTS</a:t>
            </a:r>
            <a:endParaRPr lang="en-IN" sz="36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0856" y="965563"/>
            <a:ext cx="5068389" cy="5034644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r>
              <a:rPr lang="en-IN" sz="1800" dirty="0" smtClean="0">
                <a:solidFill>
                  <a:srgbClr val="2898E4"/>
                </a:solidFill>
              </a:rPr>
              <a:t>Business Challenges: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Delivery Delays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Churn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Revenue Concentration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Regional Performance </a:t>
            </a:r>
            <a:r>
              <a:rPr lang="en-IN" sz="18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Gaps</a:t>
            </a:r>
            <a:endParaRPr lang="en-IN" sz="1600" dirty="0">
              <a:solidFill>
                <a:srgbClr val="2898E4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IN" sz="1800" dirty="0" smtClean="0">
                <a:solidFill>
                  <a:srgbClr val="2898E4"/>
                </a:solidFill>
              </a:rPr>
              <a:t>Business Strengths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Strong Revenue Growth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Large Customer Base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Strong Product Portfolio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211" y="115186"/>
            <a:ext cx="1297577" cy="76121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5" name="TextBox 4"/>
          <p:cNvSpPr txBox="1"/>
          <p:nvPr/>
        </p:nvSpPr>
        <p:spPr>
          <a:xfrm>
            <a:off x="5939245" y="965562"/>
            <a:ext cx="5347064" cy="5304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</a:pPr>
            <a:r>
              <a:rPr lang="en-IN" dirty="0">
                <a:solidFill>
                  <a:srgbClr val="2898E4"/>
                </a:solidFill>
              </a:rPr>
              <a:t>Strategic Recommendations: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Improve Logistics Network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Retain High Value Customers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Expand Top Categories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Increase Seller Performance Monitoring</a:t>
            </a:r>
          </a:p>
          <a:p>
            <a:pPr marL="285750"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Use Forecasting for Inventory </a:t>
            </a:r>
            <a:r>
              <a:rPr lang="en-IN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Planning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2898E4"/>
                </a:solidFill>
              </a:rPr>
              <a:t>Expected Impact: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Revenue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Retention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Operational Efficiency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Customer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118921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" y="0"/>
            <a:ext cx="12188761" cy="68598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965563"/>
          </a:xfrm>
          <a:ln w="19050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pPr algn="l"/>
            <a:r>
              <a:rPr lang="en-IN" sz="4000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TOOLS &amp; TECHNOLOGIES</a:t>
            </a:r>
            <a:endParaRPr lang="en-IN" sz="4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" y="965562"/>
            <a:ext cx="2673530" cy="5892437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IN" sz="1400" dirty="0" smtClean="0">
                <a:solidFill>
                  <a:srgbClr val="2898E4"/>
                </a:solidFill>
              </a:rPr>
              <a:t>Data Sources: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Kaggle Olist Dataset</a:t>
            </a:r>
          </a:p>
          <a:p>
            <a:pPr algn="l">
              <a:lnSpc>
                <a:spcPct val="150000"/>
              </a:lnSpc>
            </a:pPr>
            <a:r>
              <a:rPr lang="en-IN" sz="1400" dirty="0" smtClean="0">
                <a:solidFill>
                  <a:srgbClr val="2898E4"/>
                </a:solidFill>
              </a:rPr>
              <a:t>Data Processing: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Excel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MySQL</a:t>
            </a:r>
          </a:p>
          <a:p>
            <a:pPr algn="l">
              <a:lnSpc>
                <a:spcPct val="150000"/>
              </a:lnSpc>
            </a:pPr>
            <a:r>
              <a:rPr lang="en-IN" sz="1400" dirty="0" smtClean="0">
                <a:solidFill>
                  <a:srgbClr val="2898E4"/>
                </a:solidFill>
              </a:rPr>
              <a:t>Visualization: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Power BI</a:t>
            </a:r>
          </a:p>
          <a:p>
            <a:pPr algn="l">
              <a:lnSpc>
                <a:spcPct val="150000"/>
              </a:lnSpc>
            </a:pPr>
            <a:r>
              <a:rPr lang="en-IN" sz="1400" dirty="0" smtClean="0">
                <a:solidFill>
                  <a:srgbClr val="2898E4"/>
                </a:solidFill>
              </a:rPr>
              <a:t>Programming: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Python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Jupyter Notebook</a:t>
            </a:r>
          </a:p>
          <a:p>
            <a:pPr algn="l">
              <a:lnSpc>
                <a:spcPct val="150000"/>
              </a:lnSpc>
            </a:pPr>
            <a:r>
              <a:rPr lang="en-IN" sz="1400" dirty="0" smtClean="0">
                <a:solidFill>
                  <a:srgbClr val="2898E4"/>
                </a:solidFill>
              </a:rPr>
              <a:t>Analytics: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DAX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AI &amp; Machine </a:t>
            </a:r>
            <a:r>
              <a:rPr lang="en-IN" sz="14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Learning</a:t>
            </a:r>
          </a:p>
          <a:p>
            <a:pPr algn="l">
              <a:lnSpc>
                <a:spcPct val="150000"/>
              </a:lnSpc>
            </a:pPr>
            <a:endParaRPr lang="en-IN" sz="1400" dirty="0" smtClean="0">
              <a:solidFill>
                <a:srgbClr val="2898E4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211" y="115186"/>
            <a:ext cx="1297577" cy="76121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</p:spTree>
    <p:extLst>
      <p:ext uri="{BB962C8B-B14F-4D97-AF65-F5344CB8AC3E}">
        <p14:creationId xmlns:p14="http://schemas.microsoft.com/office/powerpoint/2010/main" val="2821010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" y="0"/>
            <a:ext cx="12188761" cy="68598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965563"/>
          </a:xfrm>
          <a:ln w="19050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r>
              <a:rPr lang="en-IN" sz="4000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PROJECT ACHIEVEMENTS</a:t>
            </a:r>
            <a:endParaRPr lang="en-IN" sz="4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463039"/>
            <a:ext cx="12192000" cy="47505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 smtClean="0">
                <a:solidFill>
                  <a:srgbClr val="2898E4"/>
                </a:solidFill>
              </a:rPr>
              <a:t>Key Outcomes: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Built </a:t>
            </a:r>
            <a:r>
              <a:rPr lang="en-IN" sz="20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5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Interactive Dashboards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Created End-to-End Analytics Solution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Implemented Machine Learning Models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Built </a:t>
            </a: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Revenue Forecasting System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Generated Actionable Business Insights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Delivered Strategic Recommendations </a:t>
            </a:r>
          </a:p>
        </p:txBody>
      </p:sp>
    </p:spTree>
    <p:extLst>
      <p:ext uri="{BB962C8B-B14F-4D97-AF65-F5344CB8AC3E}">
        <p14:creationId xmlns:p14="http://schemas.microsoft.com/office/powerpoint/2010/main" val="284729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" y="0"/>
            <a:ext cx="12188761" cy="68598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12192000" cy="965563"/>
          </a:xfrm>
          <a:ln w="19050">
            <a:solidFill>
              <a:srgbClr val="002060"/>
            </a:solidFill>
          </a:ln>
        </p:spPr>
        <p:txBody>
          <a:bodyPr anchor="ctr">
            <a:normAutofit/>
          </a:bodyPr>
          <a:lstStyle/>
          <a:p>
            <a:r>
              <a:rPr lang="en-IN" sz="4000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PROJECT HIGHLIGHTS</a:t>
            </a:r>
            <a:endParaRPr lang="en-IN" sz="40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965563"/>
            <a:ext cx="12192000" cy="497368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sz="2000" dirty="0" smtClean="0">
                <a:solidFill>
                  <a:srgbClr val="2898E4"/>
                </a:solidFill>
              </a:rPr>
              <a:t>What this Project Demonstrates?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 Cleaning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SQL Querying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 Modeling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DAX Calculations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Dashboard Design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 Storytelling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Machine Learning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Business Analytics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Strategic </a:t>
            </a:r>
            <a:r>
              <a:rPr lang="en-IN" sz="1600" dirty="0" smtClean="0">
                <a:solidFill>
                  <a:schemeClr val="accent1">
                    <a:lumMod val="40000"/>
                    <a:lumOff val="60000"/>
                  </a:schemeClr>
                </a:solidFill>
              </a:rPr>
              <a:t>Thinking</a:t>
            </a:r>
            <a:endParaRPr lang="en-IN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5939248"/>
            <a:ext cx="12192000" cy="918752"/>
          </a:xfrm>
          <a:ln w="19050">
            <a:solidFill>
              <a:srgbClr val="002060"/>
            </a:solidFill>
          </a:ln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000" dirty="0">
                <a:solidFill>
                  <a:srgbClr val="2898E4"/>
                </a:solidFill>
              </a:rPr>
              <a:t>Conclusion: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Transforming raw e-commerce data into business-driven decisions using Data Analytics and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880470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05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" y="0"/>
            <a:ext cx="12188761" cy="6859822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4800" b="1" dirty="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Berlin Sans FB Demi" panose="020E0802020502020306" pitchFamily="34" charset="0"/>
              </a:rPr>
              <a:t>Thank You !!!</a:t>
            </a:r>
            <a:endParaRPr lang="en-IN" sz="4800" b="1" dirty="0">
              <a:solidFill>
                <a:schemeClr val="accent1">
                  <a:lumMod val="40000"/>
                  <a:lumOff val="60000"/>
                </a:schemeClr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2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2326</TotalTime>
  <Words>604</Words>
  <Application>Microsoft Office PowerPoint</Application>
  <PresentationFormat>Widescreen</PresentationFormat>
  <Paragraphs>191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Berlin Sans FB Demi</vt:lpstr>
      <vt:lpstr>Bradley Hand ITC</vt:lpstr>
      <vt:lpstr>Britannic Bold</vt:lpstr>
      <vt:lpstr>Calibri</vt:lpstr>
      <vt:lpstr>Calibri Light</vt:lpstr>
      <vt:lpstr>Segoe UI Semibold</vt:lpstr>
      <vt:lpstr>Wingdings</vt:lpstr>
      <vt:lpstr>Office Theme</vt:lpstr>
      <vt:lpstr>PowerPoint Presentation</vt:lpstr>
      <vt:lpstr>TABLE OF CONTENTS</vt:lpstr>
      <vt:lpstr>ABOUT OLIST Brazil's Leading E-Commerce Ecosystem</vt:lpstr>
      <vt:lpstr>PROJECT OVERVIEW</vt:lpstr>
      <vt:lpstr>BUSINESS OVERVIEW DASHBOARD</vt:lpstr>
      <vt:lpstr>CUSTOMER &amp; PRODUCTS DASHBOARD</vt:lpstr>
      <vt:lpstr>LOGISTICS &amp; REGIONS DASHBOARD</vt:lpstr>
      <vt:lpstr>AI &amp; ML INSIGHTS DASHBOARD</vt:lpstr>
      <vt:lpstr>STRATEGIC INSIGHTS</vt:lpstr>
      <vt:lpstr>TOOLS &amp; TECHNOLOGIES</vt:lpstr>
      <vt:lpstr>PROJECT ACHIEVEMENTS</vt:lpstr>
      <vt:lpstr>PROJECT HIGHLIGHTS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 OLIST</dc:title>
  <dc:creator>admin</dc:creator>
  <cp:lastModifiedBy>admin</cp:lastModifiedBy>
  <cp:revision>76</cp:revision>
  <dcterms:created xsi:type="dcterms:W3CDTF">2026-06-23T16:39:21Z</dcterms:created>
  <dcterms:modified xsi:type="dcterms:W3CDTF">2026-08-17T13:29:12Z</dcterms:modified>
</cp:coreProperties>
</file>